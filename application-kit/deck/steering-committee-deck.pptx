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FE6E2"/>
                </a:solidFill>
                <a:latin typeface="Arial"/>
              </a:rPr>
              <a:t>STEERING COMMITTEE · CUSTOMER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Shipment exceptions, handled before the customer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6F0EE"/>
                </a:solidFill>
                <a:latin typeface="Arial"/>
              </a:rPr>
              <a:t>Problem, options, business case and the release 1 pilot — decision requested: go for a 6-week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FE6E2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Customers hear about delays at the gate — so they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430"/>
                </a:solidFill>
                <a:latin typeface="Arial"/>
              </a:rPr>
              <a:t>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of customer-service contacts are "where is my load?" (±1,250 a week)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7451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A3312A"/>
                </a:solidFill>
                <a:latin typeface="Arial"/>
              </a:rPr>
              <a:t>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of late deliveries are announced before the window starts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A5B00"/>
                </a:solidFill>
                <a:latin typeface="Arial"/>
              </a:rPr>
              <a:t>3 h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median time from "delay known" to "customer told"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73736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87451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430"/>
                </a:solidFill>
                <a:latin typeface="Arial"/>
              </a:rPr>
              <a:t>±55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606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missed delivery slots a week, ±€140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0"/>
                </a:solidFill>
                <a:latin typeface="Arial"/>
              </a:rPr>
              <a:t>Since the TMS go-live customers see statuses — not whether their delivery window is at risk.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0"/>
                </a:solidFill>
                <a:latin typeface="Arial"/>
              </a:rPr>
              <a:t>Three requests reached the PO: a tracking page (customer service), e-mails to key accounts (commercial), "nothing that adds work" (planning).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0"/>
                </a:solidFill>
                <a:latin typeface="Arial"/>
              </a:rPr>
              <a:t>Root cause after 5 whys and a 60-order sample: no rule for what matters, no owner for telling the customer.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Four options — exception management scores highest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1005840"/>
                <a:gridCol w="118872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Upfront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Yearly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O1 Do nothing, add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Absorb the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€55k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O2 Standard TMS e-mails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A message per status change: ±9 per order, 0.3 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3.10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O3 Exception management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Rules decide what matters, who owns it, who is told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€195k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€34k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3.95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O4 External visibility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Real-time tracking subscription +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€150–250k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2.85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Arial"/>
              </a:rPr>
              <a:t>Criteria and weights agreed before scoring: root cause 30% · customer experience 25% · 3-year cost 20% · delivery risk 15% · fit with the TMS 10%.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Arial"/>
              </a:rPr>
              <a:t>O4 is worth re-assessing later for consignee tracking (release 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Pays back in ±13.5 months — if a third of the calls disappear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Per year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Customer-service time freed (35% fewer WISMO)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€91.9k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Fewer missed slots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€115.5k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Running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−€34k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Net benefit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€173k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One-off cost (4 sprints + set-up)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€195k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73736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WISMO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Payback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Pessimistic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−20%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±31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Expected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−35%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Arial"/>
                        </a:rPr>
                        <a:t>±13.5 months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Optimistic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−50%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Arial"/>
                        </a:rPr>
                        <a:t>±9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5E57"/>
                </a:solidFill>
                <a:latin typeface="Arial"/>
              </a:rPr>
              <a:t>The riskiest assumption is measurable in 6 weeks.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5E57"/>
                </a:solidFill>
                <a:latin typeface="Arial"/>
              </a:rPr>
              <a:t>Recommendation: fund release 1 as a pilot (±€114k), 5 customers + control group; fund release 2 (±€81k) only if WISMO drops ≥ 20%.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EVENT STORMING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The disagreements became decisions — by their owners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37744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Hotspot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Decided by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Late compared to what?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PO + CS +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After the end of the agreed window (D-01)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Key accounts: tell everything?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By severity; critical key-account cases also get a call (D-02)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Missing status: alarm or no app?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Road planning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Planner confirms before the customer is told (D-04)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Planner's own call vs. a system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PO + planning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One message, optional planner note, calls still possible (D-08)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Nobody records why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Reason code mandatory on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Customs is everyone's problem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Customs desk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Customs desk owns it; release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5E57"/>
                </a:solidFill>
                <a:latin typeface="Arial"/>
              </a:rPr>
              <a:t>Severity — minor, major, critical — was the concept that made "tell key accounts everything" and "no notification storm" compatible.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TO-BE: every change is checked against the delivery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pic>
        <p:nvPicPr>
          <p:cNvPr id="6" name="Picture 5" descr="to-be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064240" cy="35519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Minor &lt; 2 h · major 2–6 h · critical ≥ 6 h or next day · reefer +1 level · max. one message per order per 2 h unless worse · 30 decision examples run as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Release 1: a two-sprint pilot, prioritised with WSJF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00584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Top of the backlog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WSJF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Release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Delivery window mandatory (pilot customers)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No message storm (throttling)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Pilot toggle +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Receive TMS changes reliably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Proactive customer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EDI/API status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Consignee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737360"/>
          <a:ext cx="3931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Week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>
                    <a:solidFill>
                      <a:srgbClr val="1D5E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Sprint 1: planner sees the right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Sprint 2: customer hears it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BAT + go/no-go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Pilot live (Monday)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6–11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Pilot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Arial"/>
                        </a:rPr>
                        <a:t>Stage gate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Designed with planners and pilot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pic>
        <p:nvPicPr>
          <p:cNvPr id="6" name="Picture 5" descr="planner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863840" cy="3991991"/>
          </a:xfrm>
          <a:prstGeom prst="rect">
            <a:avLst/>
          </a:prstGeom>
        </p:spPr>
      </p:pic>
      <p:pic>
        <p:nvPicPr>
          <p:cNvPr id="7" name="Picture 6" descr="customer-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54480"/>
            <a:ext cx="3108960" cy="24094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Only exceptions, most urgent first · the decision explains itself · critical messages wait 5 min for an optional planner note · no driver data to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BAT AND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Accepted by the business, ready for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430"/>
                </a:solidFill>
                <a:latin typeface="Arial"/>
              </a:rPr>
              <a:t>12 / 4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3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BAT scenarios · major findings fixed and retested · minor known issues with a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430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3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go/no-go criteria, each with an owner and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1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430"/>
                </a:solidFill>
                <a:latin typeface="Arial"/>
              </a:rPr>
              <a:t>4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3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675"/>
                </a:solidFill>
                <a:latin typeface="Arial"/>
              </a:rPr>
              <a:t>rehearsed rollback — feature toggle per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Arial"/>
              </a:rPr>
              <a:t>Shadow mode for two days before customers get messages; pilot customers switched on one by one, Monday 07:00.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Arial"/>
              </a:rPr>
              <a:t>Hypercare 2 weeks with thresholds: &gt; 1 false alarm a day or &gt; 2 messages per exception → action.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Arial"/>
              </a:rPr>
              <a:t>Communication per audience: planners, CS, account managers, pilot customers (letter from their AM), support (KB article).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5E57"/>
                </a:solidFill>
                <a:latin typeface="Arial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0"/>
                </a:solidFill>
                <a:latin typeface="Arial"/>
              </a:rPr>
              <a:t>Decision requested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Arial"/>
              </a:rPr>
              <a:t>Independent portfolio case · fictional organisation · illustrative figures, not real company data · Philippe Godfroy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430"/>
                </a:solidFill>
                <a:latin typeface="Arial"/>
              </a:rPr>
              <a:t>1. Approve release 1 as a 6-week pilot: 2 sprints + set-up, ±€114k.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430"/>
                </a:solidFill>
                <a:latin typeface="Arial"/>
              </a:rPr>
              <a:t>2. Approve the stage gate: release 2 (±€81k) only if WISMO contacts for pilot customers fall ≥ 20% against the control group.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430"/>
                </a:solidFill>
                <a:latin typeface="Arial"/>
              </a:rPr>
              <a:t>3. Nominate key users for BAT in week 5: senior road planner, 2 customer-service agents, 1 account manager.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430"/>
                </a:solidFill>
                <a:latin typeface="Arial"/>
              </a:rPr>
              <a:t>4. Account managers to brief the five pilot customers in week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Arial"/>
              </a:rPr>
              <a:t>What we will report: proactive notification rate, time to inform, WISMO vs. control, missed slots, false alarms, messages per exception.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