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one-sentence version: customers heard about delays at the gate; I turned three requested solutions into one problem and worked it out end to end. Say upfront that the organisation is fictional and the delivery simulated — and that the tests and demo are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figures. The point of the slide: the request came in as three solutions. My first job was to describe the problem without choosing one of them. The 5 whys ended at 'missing rules', not 'missing screen'.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journey in 30 seconds. Emphasise the split between preparing and deciding — it comes back in every step and answers 'aren't you doing the PO's job?' before it is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not O2: I tested it on paper with a week of status events for 20 orders. More messages is not better information. The strongest move here is 'buy the information first': name the riskiest assumption and test it before the full investment.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stakeholder-conflict story. Tell it with the dialogue in docs/03-workshops/workshop-dialogue.md. Severity resolved three hotspots at once. Keep the honest note — interviewers respect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Boundaries matter: 119 minutes is minor, 120 is major. Explain why the window check is the first row of the table: a delayed sailing must not alarm customers whose delivery is still on time. The analyst does not write production code — the module proves the rules are precise enough to build and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everything is 'Must', WSJF made the 1-point window fix rise to the top: 28% of orders had no window, and nothing works without it. Business scores value, the team scores size, the PO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there is time, open the live demo and run the guided scenario (±3 minutes): publish the sailing delay, show that 4 of 11 orders become exceptions, the critical classification, assign, act, customer view, new window, audit trail, test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DEF-04 is the best story in the case: my own analysis decision, found by a real reader, fixed, and turned into a team practice. Tell it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being precise about evidence. Then switch to their world with the two questions. Only claim AI-assisted work at the level recorded in your private provenance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A9C8EA"/>
                </a:solidFill>
                <a:latin typeface="Helvetica Neue"/>
              </a:rPr>
              <a:t>BUSINESS ANALYSIS PORTFOLIO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Shipment exceptions, handled before the customer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0">
                <a:solidFill>
                  <a:srgbClr val="DDE7F2"/>
                </a:solidFill>
                <a:latin typeface="Helvetica Neue"/>
              </a:rPr>
              <a:t>From three conflicting requests to rules that run as tests, a working demo and a controlled pilot — for a fictional short-sea and door-to-door operator.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A9C8EA"/>
                </a:solidFill>
                <a:latin typeface="Helvetica Neue"/>
              </a:rPr>
              <a:t>Philippe Godfroy · fictional organisation, simulated delivery, real automated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56171"/>
                </a:solidFill>
                <a:latin typeface="Helvetica Neue"/>
              </a:rPr>
              <a:t>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7202B"/>
                </a:solidFill>
                <a:latin typeface="Helvetica Neue"/>
              </a:rPr>
              <a:t>Customers learned about delays at the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1554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600" b="1">
                <a:solidFill>
                  <a:srgbClr val="A4161A"/>
                </a:solidFill>
                <a:latin typeface="Helvetica Neue"/>
              </a:rPr>
              <a:t>22%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556171"/>
                </a:solidFill>
                <a:latin typeface="Helvetica Neue"/>
              </a:rPr>
              <a:t>of late deliveries announced before the window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645920"/>
            <a:ext cx="3474720" cy="1554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783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600" b="1">
                <a:solidFill>
                  <a:srgbClr val="8A4B00"/>
                </a:solidFill>
                <a:latin typeface="Helvetica Neue"/>
              </a:rPr>
              <a:t>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514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556171"/>
                </a:solidFill>
                <a:latin typeface="Helvetica Neue"/>
              </a:rPr>
              <a:t>of all contacts are “where is my load?”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8" y="1645920"/>
            <a:ext cx="3474720" cy="1554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8" y="17830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600" b="1">
                <a:solidFill>
                  <a:srgbClr val="8A4B00"/>
                </a:solidFill>
                <a:latin typeface="Helvetica Neue"/>
              </a:rPr>
              <a:t>±55 /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8" y="25146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556171"/>
                </a:solidFill>
                <a:latin typeface="Helvetica Neue"/>
              </a:rPr>
              <a:t>missed delivery slots at ±€140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17202B"/>
                </a:solidFill>
                <a:latin typeface="Helvetica Neue"/>
              </a:rPr>
              <a:t>Three managers, three solutions: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7202B"/>
                </a:solidFill>
                <a:latin typeface="Helvetica Neue"/>
              </a:rPr>
              <a:t>“A tracking page like the parcel carriers”  —  Head of Customer Service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7202B"/>
                </a:solidFill>
                <a:latin typeface="Helvetica Neue"/>
              </a:rPr>
              <a:t>“Proactive e-mails to key accounts”  —  Commercial director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7202B"/>
                </a:solidFill>
                <a:latin typeface="Helvetica Neue"/>
              </a:rPr>
              <a:t>“Nothing that creates more work”  —  Road planning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B5CAD"/>
                </a:solidFill>
                <a:latin typeface="Helvetica Neue"/>
              </a:rPr>
              <a:t>Root cause: </a:t>
            </a:r>
            <a:r>
              <a:rPr sz="1800" b="0">
                <a:solidFill>
                  <a:srgbClr val="17202B"/>
                </a:solidFill>
                <a:latin typeface="Helvetica Neue"/>
              </a:rPr>
              <a:t>no shared definition of late, no severity, no owner for telling the customer.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556171"/>
                </a:solidFill>
                <a:latin typeface="Helvetica Neue"/>
              </a:rPr>
              <a:t>Fictional organisation · portfolio case ·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56171"/>
                </a:solidFill>
                <a:latin typeface="Helvetica Neue"/>
              </a:rPr>
              <a:t>2 ·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7202B"/>
                </a:solidFill>
                <a:latin typeface="Helvetica Neue"/>
              </a:rPr>
              <a:t>From opportunity to production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2606040" cy="11887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0B5CAD"/>
                </a:solidFill>
                <a:latin typeface="Helvetica Ne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20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Frame &amp; business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737360"/>
            <a:ext cx="2606040" cy="11887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0B5CAD"/>
                </a:solidFill>
                <a:latin typeface="Helvetica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920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Discover &amp; event storm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737360"/>
            <a:ext cx="2606040" cy="11887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0B5CAD"/>
                </a:solidFill>
                <a:latin typeface="Helvetica Neue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920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Model AS-IS / TO-BE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737360"/>
            <a:ext cx="2606040" cy="11887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0B5CAD"/>
                </a:solidFill>
                <a:latin typeface="Helvetica Neue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20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Rules &amp; examples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54680"/>
            <a:ext cx="2606040" cy="11887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0B5CAD"/>
                </a:solidFill>
                <a:latin typeface="Helvetica Neue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337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Prioritise with the 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154680"/>
            <a:ext cx="2606040" cy="11887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0B5CAD"/>
                </a:solidFill>
                <a:latin typeface="Helvetica Neue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337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Design &amp; demo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154680"/>
            <a:ext cx="2606040" cy="11887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0B5CAD"/>
                </a:solidFill>
                <a:latin typeface="Helvetica Neue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337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BAT &amp; go/no-go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3154680"/>
            <a:ext cx="2606040" cy="11887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0B5CAD"/>
                </a:solidFill>
                <a:latin typeface="Helvetica Neue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3375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BA prepares, owners decide. </a:t>
            </a:r>
            <a:r>
              <a:rPr sz="1700" b="0">
                <a:solidFill>
                  <a:srgbClr val="17202B"/>
                </a:solidFill>
                <a:latin typeface="Helvetica Neue"/>
              </a:rPr>
              <a:t>Scope and priority: Product Owner. Thresholds: PO with the planning lead. Go-live: PO. Funding and stage gate: sponsor.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Evidence: </a:t>
            </a:r>
            <a:r>
              <a:rPr sz="1700" b="0">
                <a:solidFill>
                  <a:srgbClr val="17202B"/>
                </a:solidFill>
                <a:latin typeface="Helvetica Neue"/>
              </a:rPr>
              <a:t>documents with IDs that trace from pain point to KPI; a script checks every reference in CI.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556171"/>
                </a:solidFill>
                <a:latin typeface="Helvetica Neue"/>
              </a:rPr>
              <a:t>Fictional organisation · portfolio case ·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56171"/>
                </a:solidFill>
                <a:latin typeface="Helvetica Neue"/>
              </a:rPr>
              <a:t>3 ·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7202B"/>
                </a:solidFill>
                <a:latin typeface="Helvetica Neue"/>
              </a:rPr>
              <a:t>Four options, one honest business case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583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2926080"/>
              </a:tblGrid>
              <a:tr h="475488">
                <a:tc>
                  <a:txBody>
                    <a:bodyPr/>
                    <a:lstStyle/>
                    <a:p>
                      <a:r>
                        <a:rPr sz="1500"/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Verdict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/>
                        <a:t>O1 Add a CS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treats the symptom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/>
                        <a:t>O2 Standard TMS e-mails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±9 changes per order, ±0.3 relevant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/>
                        <a:t>O3 Exception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3.95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recommended — as a pilot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500"/>
                        <a:t>O4 Visibility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later, for consignees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498079" y="1645920"/>
            <a:ext cx="4114800" cy="3931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59" y="178308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B5CAD"/>
                </a:solidFill>
                <a:latin typeface="Helvetica Neue"/>
              </a:rPr>
              <a:t>Riskiest assumption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59" y="2240280"/>
            <a:ext cx="3749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The case pays back in ±13.5 months if a third of WISMO contacts disappear. Nobody knew that number.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Pessimistic case: ±31 months.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So the sponsor funded a six-week pilot with a control group, and release 2 only if WISMO falls ≥ 20%.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556171"/>
                </a:solidFill>
                <a:latin typeface="Helvetica Neue"/>
              </a:rPr>
              <a:t>Weights were agreed before scoring, with the PO, the Head of CS and the planning lead. Proposed figures — not 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556171"/>
                </a:solidFill>
                <a:latin typeface="Helvetica Neue"/>
              </a:rPr>
              <a:t>Fictional organisation · portfolio case ·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56171"/>
                </a:solidFill>
                <a:latin typeface="Helvetica Neue"/>
              </a:rPr>
              <a:t>4 ·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7202B"/>
                </a:solidFill>
                <a:latin typeface="Helvetica Neue"/>
              </a:rPr>
              <a:t>One disagreement, one missing concept: severity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21945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8A4B00"/>
                </a:solidFill>
                <a:latin typeface="Helvetica Neue"/>
              </a:rPr>
              <a:t>Account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“Key accounts must hear everything.”
Need: never surprised by something serious.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474720" cy="21945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8A4B00"/>
                </a:solidFill>
                <a:latin typeface="Helvetica Neue"/>
              </a:rPr>
              <a:t>Senior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“No notification storm.”
Need: no message that doesn't change the customer's 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45920"/>
            <a:ext cx="3474720" cy="21945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C6B3A"/>
                </a:solidFill>
                <a:latin typeface="Helvetica Neue"/>
              </a:rPr>
              <a:t>Decision (PO, D-02)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By severity: minor &lt; 2 h, major 2–6 h, critical ≥ 6 h or next day; reefer +1; critical key account also gets a call.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How: </a:t>
            </a:r>
            <a:r>
              <a:rPr sz="1700" b="0">
                <a:solidFill>
                  <a:srgbClr val="17202B"/>
                </a:solidFill>
                <a:latin typeface="Helvetica Neue"/>
              </a:rPr>
              <a:t>ask each side for the last load that went wrong → reflect the need back → put both needs on the wall → let the room find the concept → three options → the owner decides.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7202B"/>
                </a:solidFill>
                <a:latin typeface="Helvetica Neue"/>
              </a:rPr>
              <a:t>Honest note: </a:t>
            </a:r>
            <a:r>
              <a:rPr sz="1700" b="0">
                <a:solidFill>
                  <a:srgbClr val="17202B"/>
                </a:solidFill>
                <a:latin typeface="Helvetica Neue"/>
              </a:rPr>
              <a:t>the workshop is simulated. The facilitation plan and choices are real; I have not yet run event storming with a real group.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556171"/>
                </a:solidFill>
                <a:latin typeface="Helvetica Neue"/>
              </a:rPr>
              <a:t>Fictional organisation · portfolio case ·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56171"/>
                </a:solidFill>
                <a:latin typeface="Helvetica Neue"/>
              </a:rPr>
              <a:t>5 ·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7202B"/>
                </a:solidFill>
                <a:latin typeface="Helvetica Neue"/>
              </a:rPr>
              <a:t>Rules precise enough to run as tests</a:t>
            </a:r>
          </a:p>
        </p:txBody>
      </p:sp>
      <p:pic>
        <p:nvPicPr>
          <p:cNvPr id="4" name="Picture 3" descr="07-acceptance-examples-and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66560" cy="422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64592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7202B"/>
                </a:solidFill>
                <a:latin typeface="Helvetica Neue"/>
              </a:rPr>
              <a:t>13 rules, one decision table, 30 Given/When/Then examples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7202B"/>
                </a:solidFill>
                <a:latin typeface="Helvetica Neue"/>
              </a:rPr>
              <a:t>The examples are the specification and the test: the prototype, the demo and CI all use the same rule module.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17202B"/>
                </a:solidFill>
                <a:latin typeface="Helvetica Neue"/>
              </a:rPr>
              <a:t>When the PO changes a threshold, the failing examples show exactly which decisions change meaning.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17202B"/>
                </a:solidFill>
                <a:latin typeface="Helvetica Neue"/>
              </a:rPr>
              <a:t>Traceability: </a:t>
            </a:r>
            <a:r>
              <a:rPr sz="1600" b="0">
                <a:solidFill>
                  <a:srgbClr val="17202B"/>
                </a:solidFill>
                <a:latin typeface="Helvetica Neue"/>
              </a:rPr>
              <a:t>P5 → BR-1 → FR-06/10 → ER-10/12 → US-05/07 → AC-07.1 → K1, K3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556171"/>
                </a:solidFill>
                <a:latin typeface="Helvetica Neue"/>
              </a:rPr>
              <a:t>Fictional organisation · portfolio case ·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56171"/>
                </a:solidFill>
                <a:latin typeface="Helvetica Neue"/>
              </a:rPr>
              <a:t>6 · PRODUCT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7202B"/>
                </a:solidFill>
                <a:latin typeface="Helvetica Neue"/>
              </a:rPr>
              <a:t>Prioritised with the Product Owner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500"/>
                        <a:t>Backlog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WSJF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EN-2 Window mandatory for pilot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15.0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US-07 No message storm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9.0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US-13 Pilot toggle + 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8.0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US-05 Proactive customer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5.8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/>
                        <a:t>US-06 EDI/API status messages →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/>
                        <a:t>1.8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406640" y="1645920"/>
            <a:ext cx="4206240" cy="40233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B5CAD"/>
                </a:solidFill>
                <a:latin typeface="Helvetica Neue"/>
              </a:rPr>
              <a:t>Trade-offs the PO made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24028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Missing-status hold before EDI messages: false alarms in week 1 would kill trust.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Key-account call task kept: cheap, and it wins the account managers.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Workbench scope cut: filters to R2.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Release 1 = 36 points, two sprints, five pilot customers.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556171"/>
                </a:solidFill>
                <a:latin typeface="Helvetica Neue"/>
              </a:rPr>
              <a:t>WSJF ranks; dependencies sequence. MoSCoW says what is in the release; WSJF orders the work inside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556171"/>
                </a:solidFill>
                <a:latin typeface="Helvetica Neue"/>
              </a:rPr>
              <a:t>Fictional organisation · portfolio case ·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56171"/>
                </a:solidFill>
                <a:latin typeface="Helvetica Neue"/>
              </a:rPr>
              <a:t>7 · DESIGN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7202B"/>
                </a:solidFill>
                <a:latin typeface="Helvetica Neue"/>
              </a:rPr>
              <a:t>The control tower: the release, working</a:t>
            </a:r>
          </a:p>
        </p:txBody>
      </p:sp>
      <p:pic>
        <p:nvPicPr>
          <p:cNvPr id="4" name="Picture 3" descr="03-exception-cri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486400" cy="3429000"/>
          </a:xfrm>
          <a:prstGeom prst="rect">
            <a:avLst/>
          </a:prstGeom>
        </p:spPr>
      </p:pic>
      <p:pic>
        <p:nvPicPr>
          <p:cNvPr id="5" name="Picture 4" descr="04-customer-view-delay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54480"/>
            <a:ext cx="54864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66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17202B"/>
                </a:solidFill>
                <a:latin typeface="Helvetica Neue"/>
              </a:rPr>
              <a:t>Planner: </a:t>
            </a:r>
            <a:r>
              <a:rPr sz="1500" b="0">
                <a:solidFill>
                  <a:srgbClr val="17202B"/>
                </a:solidFill>
                <a:latin typeface="Helvetica Neue"/>
              </a:rPr>
              <a:t>most urgent first; every exception explains which rules decided it.   </a:t>
            </a:r>
            <a:r>
              <a:rPr sz="1500" b="1">
                <a:solidFill>
                  <a:srgbClr val="17202B"/>
                </a:solidFill>
                <a:latin typeface="Helvetica Neue"/>
              </a:rPr>
              <a:t>Customer: </a:t>
            </a:r>
            <a:r>
              <a:rPr sz="1500" b="0">
                <a:solidFill>
                  <a:srgbClr val="17202B"/>
                </a:solidFill>
                <a:latin typeface="Helvetica Neue"/>
              </a:rPr>
              <a:t>one clear message — nothing internal.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17202B"/>
                </a:solidFill>
                <a:latin typeface="Helvetica Neue"/>
              </a:rPr>
              <a:t>Building it was a review: </a:t>
            </a:r>
            <a:r>
              <a:rPr sz="1500" b="0">
                <a:solidFill>
                  <a:srgbClr val="17202B"/>
                </a:solidFill>
                <a:latin typeface="Helvetica Neue"/>
              </a:rPr>
              <a:t>five open questions the spec had missed, and a privacy leak in the first customer API — found and fixed with a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556171"/>
                </a:solidFill>
                <a:latin typeface="Helvetica Neue"/>
              </a:rPr>
              <a:t>Fictional organisation · portfolio case ·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56171"/>
                </a:solidFill>
                <a:latin typeface="Helvetica Neue"/>
              </a:rPr>
              <a:t>8 · ACCEPTANCE &amp; GO-LIVE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7202B"/>
                </a:solidFill>
                <a:latin typeface="Helvetica Neue"/>
              </a:rPr>
              <a:t>Accepted by the business — and my own mistake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566160" cy="3840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B5CAD"/>
                </a:solidFill>
                <a:latin typeface="Helvetica Neue"/>
              </a:rPr>
              <a:t>BAT (simulated)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Key users incl. the sceptical senior planner.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3 of 4 majors came from real readers in their own context — the team's tests had passed.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Signed off with 2 known issues, each with workaround, owner and 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566160" cy="3840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A4161A"/>
                </a:solidFill>
                <a:latin typeface="Helvetica Neue"/>
              </a:rPr>
              <a:t>My mistake (DEF-04)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4028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In refinement I answered: throttle per exception.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In BAT a customer got two e-mails in ten minutes about one order.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Fix: per order. Retro action: customer-facing questions go to the PO the same 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45920"/>
            <a:ext cx="3474720" cy="38404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783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C6B3A"/>
                </a:solidFill>
                <a:latin typeface="Helvetica Neue"/>
              </a:rPr>
              <a:t>Ready for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13 go/no-go criteria, an owner each.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Shadow mode, staged switch-on on a Monday, rollback in 4 minutes.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Support article: “rule or bug?”.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556171"/>
                </a:solidFill>
                <a:latin typeface="Helvetica Neue"/>
              </a:rPr>
              <a:t>Fictional organisation · portfolio case ·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556171"/>
                </a:solidFill>
                <a:latin typeface="Helvetica Neue"/>
              </a:rPr>
              <a:t>9 · WHAT THIS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7202B"/>
                </a:solidFill>
                <a:latin typeface="Helvetica Neue"/>
              </a:rPr>
              <a:t>Shown here — and not claimed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94960" cy="32918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1C6B3A"/>
                </a:solidFill>
                <a:latin typeface="Helvetica Neue"/>
              </a:rPr>
              <a:t>Shown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How I frame a problem, prepare decisions and specify precisely.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Artefacts a team can use: BPMN, rules, stories, API contract, BAT, go/no-go.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Real automated tests and a working demo.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A learning lab to defend every artefact.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394960" cy="32918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A4161A"/>
                </a:solidFill>
                <a:latin typeface="Helvetica Neue"/>
              </a:rPr>
              <a:t>Not claimed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Real stakeholders, sprints or BAT — all simulated.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Years in a professional Scrum team.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7202B"/>
                </a:solidFill>
                <a:latin typeface="Helvetica Neue"/>
              </a:rPr>
              <a:t>That the case was built without help: it was built with AI assistance; what I reviewed is tracked openly.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B5CAD"/>
                </a:solidFill>
                <a:latin typeface="Helvetica Neue"/>
              </a:rPr>
              <a:t>My questions for you: </a:t>
            </a:r>
            <a:r>
              <a:rPr sz="1700" b="0">
                <a:solidFill>
                  <a:srgbClr val="17202B"/>
                </a:solidFill>
                <a:latin typeface="Helvetica Neue"/>
              </a:rPr>
              <a:t>How does refinement work in your team, and who writes the acceptance criteria? Where do business analysts add the most value here today?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556171"/>
                </a:solidFill>
                <a:latin typeface="Helvetica Neue"/>
              </a:rPr>
              <a:t>Fictional organisation · portfolio case ·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